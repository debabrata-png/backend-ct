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5T14:49:39.07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2155 478,'-18'6,"1"1,-1 0,1 2,1 0,-1 1,2 0,-1 1,-16 17,-11 6,-598 466,109-117,235-179,246-166,2 2,1 2,-82 94,105-105,1 1,2 1,1 1,1 1,3 1,0 0,-16 57,26-60,2 0,1 0,2 1,1 0,5 49,-1-5,-1-52,1 0,2-1,0 1,1-1,2 0,0-1,2 0,1 0,0-1,2 0,19 26,23 24,116 120,-130-149,117 112,19 22,-69-36,-85-107,2-1,0-2,3 0,36 32,232 166,4 3,-228-170,127 141,-6 59,-137-179,4-3,115 122,8-33,-71-70,-5 4,101 129,-137-140,37 50,180 183,-260-300,2-2,1 0,0-2,2-1,0-2,2-1,0-2,0-2,52 15,-16-12,0-3,0-3,2-3,77-1,1046-47,-1037 19,-1-6,-1-7,-2-8,-2-5,-2-8,236-120,18-54,-311 168,-2-5,94-86,-150 117,-2-1,-1-1,-2-2,-2-1,-1-2,26-54,-24 32,-3-1,-2-1,26-122,76-630,-84-11,-41 722,-5 0,-4 1,-26-130,24 193,-2 1,-2 0,-1 1,-3 0,-1 1,-2 1,-2 1,-1 1,-2 1,-46-52,-9 11,-3 5,-110-75,174 133,-412-316,293 218,-5 7,-4 6,-5 7,-3 6,-283-112,-381-73,412 144,-958-344,1330 459,-288-97,272 96,-1 3,0 1,-1 3,-75 0,8 8,-194 8,254-5,1 3,0 2,-67 22,95-21,-50 27,-10 3,87-39,0-1,0 1,0 0,0 1,0-1,0 1,0 0,1 0,0 0,-1 0,1 0,0 1,1-1,-1 1,1 0,-1 0,1 0,0 0,1 0,-1 1,1-1,0 0,0 1,0-1,0 1,1-1,0 1,0 0,0 4,1 1,1 1,0-1,0 0,1 0,0 0,0 0,1-1,1 1,0-1,0 0,13 16,102 136,-75-98,-35-48,-1 1,0 1,-1-1,-1 1,0 0,-1 1,-2 0,1 0,2 25,-2 15,-4 94,-2-129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5T14:49:42.03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5T14:49:42.84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5T14:49:43.21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02138-1192-43B7-99A8-5BB6B0E64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84DC0-3322-43D7-9498-0DCF9C228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BBF98-F85D-4FD4-A644-E225E1D16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F6B1D-9E63-4FCA-BE5B-0B746E5D44B0}" type="datetimeFigureOut">
              <a:rPr lang="en-IN" smtClean="0"/>
              <a:t>05-05-2021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36BED-6973-4070-8007-7E88A5341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427F7-DB21-40C7-B5E7-23316A1CD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3B0D-9D61-4916-B02E-4D79F88C4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15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4FE43-62B6-48E2-8F88-BBA21EF81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3AF00-FA70-49DA-A53F-9C2C16E2F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762B1-96DA-4DF8-9C53-8309DE20E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F6B1D-9E63-4FCA-BE5B-0B746E5D44B0}" type="datetimeFigureOut">
              <a:rPr lang="en-IN" smtClean="0"/>
              <a:t>05-05-2021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09427-30CE-4084-91C8-AE30C96AC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2FF82-4D21-44A5-9C7A-843FB0BA1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3B0D-9D61-4916-B02E-4D79F88C4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74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4750A-5719-4926-B690-73B9BB98F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10DA5-785F-43DC-8BAF-8DBA13034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2E979-5B8B-446E-B614-F4DD939BF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F6B1D-9E63-4FCA-BE5B-0B746E5D44B0}" type="datetimeFigureOut">
              <a:rPr lang="en-IN" smtClean="0"/>
              <a:t>05-05-2021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1F429-B2D9-463F-9738-F689DAB49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F1B10-F565-4ACF-8507-E94FCC23B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3B0D-9D61-4916-B02E-4D79F88C4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976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FF4CC-7979-484D-9D93-A6DD7978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C790E-0C7F-4868-917C-D4A87AB2AF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614D-F2E7-4D3A-98E1-A309F4B16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F8A25-697D-4554-B516-078B81699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F6B1D-9E63-4FCA-BE5B-0B746E5D44B0}" type="datetimeFigureOut">
              <a:rPr lang="en-IN" smtClean="0"/>
              <a:t>05-05-2021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62452-960D-4F2C-A11F-CFD5C574C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3C658-6CA6-4B94-8D85-02E890164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3B0D-9D61-4916-B02E-4D79F88C4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920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920D-2D52-4650-934D-2EA16599D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AA908-3BF1-4E94-9BC2-F46919748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21A6E-10C5-4687-9663-CD11D42CD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B18204-69C5-437B-8018-2450D71731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F7A6A7-00E3-445F-9ABC-63CE48119D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4C6094-E6D1-4388-94A1-AC1B4BEA6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F6B1D-9E63-4FCA-BE5B-0B746E5D44B0}" type="datetimeFigureOut">
              <a:rPr lang="en-IN" smtClean="0"/>
              <a:t>05-05-2021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B73798-D8EE-4DBE-ABA4-C66478DB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4CAF0F-7F7F-439D-800B-AB50D6858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3B0D-9D61-4916-B02E-4D79F88C4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383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E596C-30BD-4BCF-A96D-816824D8C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A716E1-55AA-438C-901B-EF0CD8181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F6B1D-9E63-4FCA-BE5B-0B746E5D44B0}" type="datetimeFigureOut">
              <a:rPr lang="en-IN" smtClean="0"/>
              <a:t>05-05-2021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D32162-7217-4C32-A544-FFCF4E06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923FA5-504C-4F9F-B131-0E39B9EC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3B0D-9D61-4916-B02E-4D79F88C4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55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59CF91-F54C-4A13-8CAA-41EE0443F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F6B1D-9E63-4FCA-BE5B-0B746E5D44B0}" type="datetimeFigureOut">
              <a:rPr lang="en-IN" smtClean="0"/>
              <a:t>05-05-2021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47A4EC-91B9-41B5-AC0A-FBD9C090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1F73B-F0AE-430B-9516-1062EA837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3B0D-9D61-4916-B02E-4D79F88C4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114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916E-6143-494F-9B27-9AB3E89E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70B6-7CA4-4CCD-84A7-64F321F45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94E23-48EA-4A8A-A612-D8CAFC4A0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FAE9C-0B3A-4FFF-8A3E-F120FB77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F6B1D-9E63-4FCA-BE5B-0B746E5D44B0}" type="datetimeFigureOut">
              <a:rPr lang="en-IN" smtClean="0"/>
              <a:t>05-05-2021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372DD-5A03-4505-925B-D2FEC886D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9D223-27EC-4BED-8B8A-E3E99E01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3B0D-9D61-4916-B02E-4D79F88C4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34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080E-2A28-4F38-8049-0A6C76E42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AFE5F4-50B2-454B-A049-A1E2BF36B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98060-E44C-4C1D-8CFD-29C995D95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E6DAB-BB16-460D-A95E-F1E73834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F6B1D-9E63-4FCA-BE5B-0B746E5D44B0}" type="datetimeFigureOut">
              <a:rPr lang="en-IN" smtClean="0"/>
              <a:t>05-05-2021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2F6A1-3894-4C04-B6DF-77C66E43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E724F-2974-4E65-BCB5-94608FC2F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3B0D-9D61-4916-B02E-4D79F88C4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98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1F5A8-F5EF-4559-8D12-79C94D0C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90D6EC-D2B6-404D-9494-8A6ABFB86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DD090-B070-4C27-83BD-770784C21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F6B1D-9E63-4FCA-BE5B-0B746E5D44B0}" type="datetimeFigureOut">
              <a:rPr lang="en-IN" smtClean="0"/>
              <a:t>05-05-2021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910F3-4210-4494-95F3-794728C33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CED05-FF34-425E-90FF-B01E123E8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3B0D-9D61-4916-B02E-4D79F88C4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83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BD8F41-D17A-4878-84AE-28CF55F1F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B0CA36-E185-49F3-BD98-03D884657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D97B5-A30E-4C57-BBD1-954846AE5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F6B1D-9E63-4FCA-BE5B-0B746E5D44B0}" type="datetimeFigureOut">
              <a:rPr lang="en-IN" smtClean="0"/>
              <a:t>05-05-2021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E2916-A368-4301-87F0-94963639E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B99E8-388D-4117-A175-C861CD91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3B0D-9D61-4916-B02E-4D79F88C4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3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2F4883-66CC-469C-AC2E-5AE51FEF5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92516-ECAC-4D9A-9681-E488F6C90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1A42A-131E-4727-96DD-E04FC9816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F6B1D-9E63-4FCA-BE5B-0B746E5D44B0}" type="datetimeFigureOut">
              <a:rPr lang="en-IN" smtClean="0"/>
              <a:t>05-05-2021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FB5F0-E5AE-4154-8568-C1C733C2F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A7D95-4014-4770-8C8C-814B68654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F3B0D-9D61-4916-B02E-4D79F88C4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517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hyperlink" Target="https://onlineexamhelp.eklavvya.in/category/online-exam-security/" TargetMode="Externa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clweb.org/anthology/2020.bea-1.20.pdf" TargetMode="External"/><Relationship Id="rId3" Type="http://schemas.openxmlformats.org/officeDocument/2006/relationships/hyperlink" Target="https://www.creatrixcampus.com/examination-management-system" TargetMode="External"/><Relationship Id="rId7" Type="http://schemas.openxmlformats.org/officeDocument/2006/relationships/hyperlink" Target="https://www.youtube.com/watch?v=FFcefvvCCy0" TargetMode="External"/><Relationship Id="rId2" Type="http://schemas.openxmlformats.org/officeDocument/2006/relationships/hyperlink" Target="https://www.speedwellsoftware.com/exam-softwar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1906.00145.pdf" TargetMode="External"/><Relationship Id="rId5" Type="http://schemas.openxmlformats.org/officeDocument/2006/relationships/hyperlink" Target="https://www.aclweb.org/anthology/W19-4402.pdf" TargetMode="External"/><Relationship Id="rId10" Type="http://schemas.openxmlformats.org/officeDocument/2006/relationships/hyperlink" Target="https://link.springer.com/article/10.1007/s10639-021-10461-y" TargetMode="External"/><Relationship Id="rId4" Type="http://schemas.openxmlformats.org/officeDocument/2006/relationships/hyperlink" Target="http://staff.ustc.edu.cn/~cheneh/paper_pdf/2017/Zhengya-Huang-AAAI.pdf" TargetMode="External"/><Relationship Id="rId9" Type="http://schemas.openxmlformats.org/officeDocument/2006/relationships/hyperlink" Target="https://onlinelibrary.wiley.com/doi/epdf/10.1111/jedm.12264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content/pdf/10.1007/s10639-021-10461-y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B280B-F89C-4433-B8EE-EA9E54A3F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428"/>
            <a:ext cx="9144000" cy="388385"/>
          </a:xfrm>
        </p:spPr>
        <p:txBody>
          <a:bodyPr>
            <a:normAutofit/>
          </a:bodyPr>
          <a:lstStyle/>
          <a:p>
            <a:r>
              <a:rPr lang="en-IN" sz="2000" b="1" dirty="0"/>
              <a:t>Information on difficulty level of questions and time required to solve those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6A5221-5660-4C20-AF1D-D60DB707E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1133" y="771276"/>
            <a:ext cx="10320793" cy="579129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/>
              <a:t>Link to </a:t>
            </a:r>
            <a:r>
              <a:rPr lang="en-IN" sz="1800" dirty="0" err="1"/>
              <a:t>eklavya</a:t>
            </a:r>
            <a:r>
              <a:rPr lang="en-IN" sz="1800" dirty="0"/>
              <a:t> software - </a:t>
            </a:r>
            <a:r>
              <a:rPr lang="en-IN" sz="1800" dirty="0">
                <a:hlinkClick r:id="rId2"/>
              </a:rPr>
              <a:t>https://onlineexamhelp.eklavvya.in/category/online-exam-security/</a:t>
            </a:r>
            <a:endParaRPr lang="en-IN" sz="1800" dirty="0"/>
          </a:p>
          <a:p>
            <a:pPr algn="l"/>
            <a:r>
              <a:rPr lang="en-IN" sz="1800" dirty="0"/>
              <a:t>       Click on each of the features encircled below to watch the related videos.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F2A74F-A82F-47D7-B66A-7EE591A0E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706" y="1625534"/>
            <a:ext cx="8186099" cy="46046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033FA8B-CEC4-4EB5-B8A6-2053275D5832}"/>
                  </a:ext>
                </a:extLst>
              </p14:cNvPr>
              <p14:cNvContentPartPr/>
              <p14:nvPr/>
            </p14:nvContentPartPr>
            <p14:xfrm>
              <a:off x="7026052" y="3670044"/>
              <a:ext cx="2909520" cy="2416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033FA8B-CEC4-4EB5-B8A6-2053275D58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17052" y="3661044"/>
                <a:ext cx="2927160" cy="243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1C8A0EA-9470-40DE-BBC1-F7F9EA897553}"/>
                  </a:ext>
                </a:extLst>
              </p14:cNvPr>
              <p14:cNvContentPartPr/>
              <p14:nvPr/>
            </p14:nvContentPartPr>
            <p14:xfrm>
              <a:off x="10256144" y="961052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1C8A0EA-9470-40DE-BBC1-F7F9EA89755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47504" y="952052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52821D14-638B-43F2-B694-B139CF2E4EE4}"/>
              </a:ext>
            </a:extLst>
          </p:cNvPr>
          <p:cNvGrpSpPr/>
          <p:nvPr/>
        </p:nvGrpSpPr>
        <p:grpSpPr>
          <a:xfrm>
            <a:off x="10406984" y="1008572"/>
            <a:ext cx="360" cy="360"/>
            <a:chOff x="10406984" y="1008572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32059EA-DB99-4D4D-83E6-43490A8D0F08}"/>
                    </a:ext>
                  </a:extLst>
                </p14:cNvPr>
                <p14:cNvContentPartPr/>
                <p14:nvPr/>
              </p14:nvContentPartPr>
              <p14:xfrm>
                <a:off x="10406984" y="1008572"/>
                <a:ext cx="3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32059EA-DB99-4D4D-83E6-43490A8D0F0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97984" y="99957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F52EF5-8684-4BB3-A2CE-5AEED8726CF9}"/>
                    </a:ext>
                  </a:extLst>
                </p14:cNvPr>
                <p14:cNvContentPartPr/>
                <p14:nvPr/>
              </p14:nvContentPartPr>
              <p14:xfrm>
                <a:off x="10406984" y="1008572"/>
                <a:ext cx="3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F52EF5-8684-4BB3-A2CE-5AEED8726CF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97984" y="99957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207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8EC11-0C60-4FF2-AC95-A3647C7B3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17" y="500932"/>
            <a:ext cx="10638183" cy="5676031"/>
          </a:xfrm>
        </p:spPr>
        <p:txBody>
          <a:bodyPr/>
          <a:lstStyle/>
          <a:p>
            <a:r>
              <a:rPr lang="en-IN" sz="2000" dirty="0"/>
              <a:t>Link to speedwell software - </a:t>
            </a:r>
            <a:r>
              <a:rPr lang="en-IN" sz="2000" dirty="0">
                <a:hlinkClick r:id="rId2"/>
              </a:rPr>
              <a:t>https://www.speedwellsoftware.com/exam-software/</a:t>
            </a:r>
            <a:endParaRPr lang="en-IN" sz="2000" dirty="0"/>
          </a:p>
          <a:p>
            <a:r>
              <a:rPr lang="en-IN" sz="2000" dirty="0"/>
              <a:t>Link to creatrix software – exam managements system - </a:t>
            </a:r>
            <a:r>
              <a:rPr lang="en-IN" sz="2000" dirty="0">
                <a:hlinkClick r:id="rId3"/>
              </a:rPr>
              <a:t>https://www.creatrixcampus.com/examination-management-system</a:t>
            </a:r>
            <a:endParaRPr lang="en-IN" sz="2000" dirty="0"/>
          </a:p>
          <a:p>
            <a:r>
              <a:rPr lang="en-IN" sz="2000" dirty="0"/>
              <a:t>Research paper link on question difficulty prediction </a:t>
            </a:r>
            <a:r>
              <a:rPr lang="en-IN" sz="2000" dirty="0">
                <a:hlinkClick r:id="rId4"/>
              </a:rPr>
              <a:t>http://staff.ustc.edu.cn/~cheneh/paper_pdf/2017/Zhengya-Huang-AAAI.pdf</a:t>
            </a:r>
            <a:endParaRPr lang="en-IN" sz="2000" dirty="0"/>
          </a:p>
          <a:p>
            <a:pPr marL="0" indent="0">
              <a:buNone/>
            </a:pPr>
            <a:r>
              <a:rPr lang="en-IN" sz="2000" dirty="0">
                <a:hlinkClick r:id="rId5"/>
              </a:rPr>
              <a:t>https://www.aclweb.org/anthology/W19-4402.pdf</a:t>
            </a:r>
            <a:endParaRPr lang="en-IN" sz="2000" dirty="0"/>
          </a:p>
          <a:p>
            <a:pPr marL="0" indent="0">
              <a:buNone/>
            </a:pPr>
            <a:r>
              <a:rPr lang="en-IN" sz="2000" dirty="0">
                <a:hlinkClick r:id="rId6"/>
              </a:rPr>
              <a:t>https://arxiv.org/pdf/1906.00145.pdf</a:t>
            </a:r>
            <a:endParaRPr lang="en-IN" sz="2000" dirty="0"/>
          </a:p>
          <a:p>
            <a:pPr marL="0" indent="0">
              <a:buNone/>
            </a:pPr>
            <a:r>
              <a:rPr lang="en-IN" sz="2000" dirty="0" err="1"/>
              <a:t>Youtube</a:t>
            </a:r>
            <a:r>
              <a:rPr lang="en-IN" sz="2000" dirty="0"/>
              <a:t> video on </a:t>
            </a:r>
            <a:r>
              <a:rPr lang="en-IN" sz="2000" dirty="0" err="1"/>
              <a:t>diffque</a:t>
            </a:r>
            <a:r>
              <a:rPr lang="en-IN" sz="2000" dirty="0"/>
              <a:t> - </a:t>
            </a:r>
            <a:r>
              <a:rPr lang="en-IN" sz="2000" dirty="0">
                <a:hlinkClick r:id="rId7"/>
              </a:rPr>
              <a:t>https://www.youtube.com/watch?v=FFcefvvCCy0</a:t>
            </a:r>
            <a:endParaRPr lang="en-IN" sz="2000" dirty="0"/>
          </a:p>
          <a:p>
            <a:r>
              <a:rPr lang="en-IN" sz="2000" dirty="0"/>
              <a:t>Time prediction- </a:t>
            </a:r>
            <a:r>
              <a:rPr lang="en-IN" sz="2000" dirty="0">
                <a:hlinkClick r:id="rId8"/>
              </a:rPr>
              <a:t>https://www.aclweb.org/anthology/2020.bea-1.20.pdf</a:t>
            </a:r>
            <a:r>
              <a:rPr lang="en-IN" sz="2000" dirty="0"/>
              <a:t> </a:t>
            </a:r>
          </a:p>
          <a:p>
            <a:pPr marL="0" indent="0">
              <a:buNone/>
            </a:pPr>
            <a:r>
              <a:rPr lang="en-IN" sz="2000" dirty="0">
                <a:hlinkClick r:id="rId9"/>
              </a:rPr>
              <a:t>https://onlinelibrary.wiley.com/doi/epdf/10.1111/jedm.12264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Question paper generation - </a:t>
            </a:r>
            <a:r>
              <a:rPr lang="en-IN" sz="2000" dirty="0">
                <a:hlinkClick r:id="rId10"/>
              </a:rPr>
              <a:t>https://link.springer.com/article/10.1007/s10639-021-10461-y</a:t>
            </a: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16246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54973-3D37-4C43-BF05-97BEFB609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Flowchart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59C165-49A9-4D9C-A733-C585BFEFEE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285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83C4F-1145-4026-8897-82D1165BD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666" y="492981"/>
            <a:ext cx="10646134" cy="5683982"/>
          </a:xfrm>
        </p:spPr>
        <p:txBody>
          <a:bodyPr/>
          <a:lstStyle/>
          <a:p>
            <a:r>
              <a:rPr lang="en-US" sz="1400" dirty="0"/>
              <a:t>Question paper generation through progressive model and difficulty calculation on the </a:t>
            </a:r>
            <a:r>
              <a:rPr lang="en-US" sz="1400" dirty="0" err="1"/>
              <a:t>Promexa</a:t>
            </a:r>
            <a:r>
              <a:rPr lang="en-US" sz="1400" dirty="0"/>
              <a:t> Mobile Application- </a:t>
            </a:r>
            <a:r>
              <a:rPr lang="en-IN" sz="2000" dirty="0">
                <a:hlinkClick r:id="rId2"/>
              </a:rPr>
              <a:t>https://link.springer.com/content/pdf/10.1007/s10639-021-10461-y.pdf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440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231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Information on difficulty level of questions and time required to solve those questions</vt:lpstr>
      <vt:lpstr>PowerPoint Presentation</vt:lpstr>
      <vt:lpstr>Flowchart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on difficulty level of questions and time required to solve those questions</dc:title>
  <dc:creator>Akshata Dhavleghar</dc:creator>
  <cp:lastModifiedBy>Akshata Dhavleghar</cp:lastModifiedBy>
  <cp:revision>4</cp:revision>
  <dcterms:created xsi:type="dcterms:W3CDTF">2021-05-05T14:43:19Z</dcterms:created>
  <dcterms:modified xsi:type="dcterms:W3CDTF">2021-05-05T15:15:14Z</dcterms:modified>
</cp:coreProperties>
</file>